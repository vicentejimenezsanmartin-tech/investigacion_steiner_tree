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Steiner Tree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E74B5"/>
                </a:solidFill>
              </a:rPr>
              <a:t>Trabajo 16 · Problema NP-completo clásico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Vicente Jiménez · Cristóbal Osorio · Nicolas Sandoval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</a:rPr>
              <a:t>Optimización · Facultad de Ingeniería · 2026</a:t>
            </a:r>
            <a:endParaRPr lang="en-US" sz="1400" dirty="0"/>
          </a:p>
        </p:txBody>
      </p:sp>
      <p:pic>
        <p:nvPicPr>
          <p:cNvPr id="8" name="Image 0" descr="/mnt/data/steiner_entrega/imagenes/ejemplo_ste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143000"/>
            <a:ext cx="31089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Problema: conectar terminales con costo mínimo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64008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Dado un grafo ponderado G = (V, E) y terminales T ⊆ V, buscamos un subgrafo conexo de costo mínimo que contenga todos los terminales.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Los terminales son obligatorios.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Los nodos de Steiner son opcionales.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8254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Pueden reducir el costo total de conexión.</a:t>
            </a:r>
            <a:endParaRPr lang="en-US" sz="1700" dirty="0"/>
          </a:p>
        </p:txBody>
      </p:sp>
      <p:pic>
        <p:nvPicPr>
          <p:cNvPr id="9" name="Image 0" descr="/mnt/data/steiner_entrega/imagenes/ejemplo_ste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60120"/>
            <a:ext cx="4069080" cy="34015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718304"/>
            <a:ext cx="106527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</a:rPr>
              <a:t>Idea clave: no se conectan necesariamente todos los nodos del grafo: solo los terminales y los auxiliares que convienen.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Modelo matemático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B5"/>
                </a:solidFill>
              </a:rPr>
              <a:t>Variable de decisión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xₑ = 1 si la arista e se selecciona; 0 en caso contrario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B5"/>
                </a:solidFill>
              </a:rPr>
              <a:t>Función objetivo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517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</a:rPr>
              <a:t>Minimizar  Z = Σ c(e)·xₑ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B5"/>
                </a:solidFill>
              </a:rPr>
              <a:t>Restricción central: conectividad por cortes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5394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</a:rPr>
              <a:t>Para todo S que separe terminales: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</a:rPr>
              <a:t>Σ xₑ ≥ 1,  e ∈ δ(S)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5349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Interpretación: ningún corte puede dejar un grupo de terminales aislado del resto.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B5"/>
                </a:solidFill>
              </a:rPr>
              <a:t>Versión de decisión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999232"/>
            <a:ext cx="44805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55B"/>
                </a:solidFill>
              </a:rPr>
              <a:t>¿Existe un subgrafo conexo que conecte T con costo total ≤ K?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Esta formulación permite estudiar NP-completitud.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Complejidad: por qué es difícil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2"/>
                </a:solidFill>
              </a:rPr>
              <a:t>Pertenece a NP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Dada una solución candidata, se verifica conectividad con BFS/DFS o Union-Find.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El costo se comprueba sumando las aristas seleccionadas.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1E"/>
                </a:solidFill>
              </a:rPr>
              <a:t>Intuición de NP-completitud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La decisión difícil es qué nodos no terminales incluir.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Con r nodos opcionales aparecen 2ʳ subconjuntos posibles.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</a:rPr>
              <a:t>Caso especial: si todos los nodos son terminales, se reduce a MST y sí es polinomial.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Implementación en Python, C++ y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</a:rPr>
              <a:t>Enfoque exacto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Enumerar subconjuntos de nodos opcionales.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Calcular MST del subgrafo inducido.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Guardar el menor costo conectado.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Complejidad: O(2^(|V|-|T|) · |E| log |E|)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2"/>
                </a:solidFill>
              </a:rPr>
              <a:t>Mejora heurística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Dijkstra desde cada terminal.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MST sobre la clausura métrica.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Reconstrucción de caminos originales.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3136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Trade-off: mucho más rápida, pero no siempre óptima.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Decisión común: los tres lenguajes usan el mismo formato de entrada y la misma lógica algorítmica para comparar tiempos de forma justa.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Resultados experimentales: tiempos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6</a:t>
            </a:r>
            <a:endParaRPr lang="en-US" sz="1300" dirty="0"/>
          </a:p>
        </p:txBody>
      </p:sp>
      <p:pic>
        <p:nvPicPr>
          <p:cNvPr id="5" name="Image 0" descr="/mnt/data/steiner_entrega/imagenes/tiempos_exa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394960" cy="3337560"/>
          </a:xfrm>
          <a:prstGeom prst="rect">
            <a:avLst/>
          </a:prstGeom>
        </p:spPr>
      </p:pic>
      <p:pic>
        <p:nvPicPr>
          <p:cNvPr id="6" name="Image 1" descr="/mnt/data/steiner_entrega/imagenes/tiempos_heuristic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51560"/>
            <a:ext cx="5394960" cy="3337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736592"/>
            <a:ext cx="5120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La solución exacta crece rápido por la enumeración de subconjuntos.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2240" y="4736592"/>
            <a:ext cx="5029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La heurística mantiene tiempos muy bajos en todas las instancias.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</a:rPr>
              <a:t>C++ fue el más rápido; Python fue el más lento en exacto; Java quedó intermedio en casos grandes.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Calidad de la heurística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7</a:t>
            </a:r>
            <a:endParaRPr lang="en-US" sz="1300" dirty="0"/>
          </a:p>
        </p:txBody>
      </p:sp>
      <p:pic>
        <p:nvPicPr>
          <p:cNvPr id="5" name="Image 0" descr="/mnt/data/steiner_entrega/imagenes/calidad_heurist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5943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</a:rPr>
              <a:t>Resumen de resultados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86600" y="1783080"/>
            <a:ext cx="43891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Óptimo en 4 de 7 casos.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Brecha máxima: 11,11 %.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Las brechas aparecen en instancias pequeñas/manuales donde una elección local de caminos mínimos no coincide con el árbol global óptimo.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En las instancias aleatorias mayores, la heurística coincidió con el óptimo.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86600" y="4572000"/>
            <a:ext cx="43434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55B"/>
                </a:solidFill>
              </a:rPr>
              <a:t>Conclusión experimental: la heurística es útil como solución práctica cuando el exacto deja de escalar.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Conclusiones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5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</a:rPr>
              <a:t>Qué aprendimos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Steiner Tree combina conectividad y selección de nodos opcionales.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La verificación es eficiente, pero encontrar el óptimo no.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1E"/>
                </a:solidFill>
              </a:rPr>
              <a:t>Limitaciones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El exacto solo permite instancias pequeñas.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La heurística no garantiza optimalidad.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2"/>
                </a:solidFill>
              </a:rPr>
              <a:t>Posibles mejoras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9966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55B"/>
                </a:solidFill>
              </a:rPr>
              <a:t>Programación dinámica sobre subconjuntos de terminales, podas por cotas inferiores y metaheurísticas para instancias grandes.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287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Resultado final: se implementaron y compararon dos enfoques en Python, C++ y Java, cumpliendo la pauta del trabajo.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Modelado, Implementación y Análisis de Problemas NP-Completos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418320" y="6583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675"/>
                </a:solidFill>
              </a:rPr>
              <a:t>Trabajo 16 · Steiner Tree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Facultad de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Steiner Tree - Trabajo 16</dc:title>
  <dc:subject>Steiner Tree</dc:subject>
  <dc:creator>Grupo Trabajo 16</dc:creator>
  <cp:lastModifiedBy>Grupo Trabajo 16</cp:lastModifiedBy>
  <cp:revision>1</cp:revision>
  <dcterms:created xsi:type="dcterms:W3CDTF">2026-04-26T20:03:17Z</dcterms:created>
  <dcterms:modified xsi:type="dcterms:W3CDTF">2026-04-26T20:03:17Z</dcterms:modified>
</cp:coreProperties>
</file>